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8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5" r:id="rId30"/>
    <p:sldId id="286" r:id="rId31"/>
    <p:sldId id="287" r:id="rId32"/>
    <p:sldId id="283" r:id="rId33"/>
    <p:sldId id="284" r:id="rId34"/>
    <p:sldId id="288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90" y="11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75affc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75affc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75affc6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75affc6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875affc6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875affc6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875affc6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875affc6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b23be66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b23be66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b23be66a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b23be66a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b23be66ac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b23be66ac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75affc6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875affc6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75affc6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875affc6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875affc6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875affc6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875affc6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875affc6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875affc6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875affc6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75affc60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875affc60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875affc6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875affc6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875affc60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875affc60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875affc6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875affc6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875affc6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875affc60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875affc60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875affc60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b23be66a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b23be66a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b23be66a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b23be66a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b23be66ac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b23be66ac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b26e7eb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b26e7eb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b26e7eb5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b26e7eb5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b26e7eb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b26e7eb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b26e7eb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eb26e7eb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875affc60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875affc60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 dirty="0"/>
              <a:t>An agile and fast FPGA kernel dev for VLM application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GB" dirty="0"/>
              <a:t>CSBOT technical report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Outline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Philosophy.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Model analysis and target operator choices.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Hardware and architecture design choices.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Llama.cpp modification and integration.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Achieved results.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How to run.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90151-CDB0-CEA0-EF8E-9BA12495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Philosophy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E53C55-E28E-E06D-C3DA-F35323ABA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AI model is rapidly evolving. </a:t>
            </a:r>
          </a:p>
          <a:p>
            <a:pPr lvl="1"/>
            <a:r>
              <a:rPr lang="en-US" dirty="0"/>
              <a:t>Require agile hardware development. </a:t>
            </a:r>
          </a:p>
          <a:p>
            <a:r>
              <a:rPr lang="en-US" dirty="0"/>
              <a:t>Tiling based hardware design leads to a humongous number of hardware design choices. </a:t>
            </a:r>
          </a:p>
          <a:p>
            <a:pPr lvl="1"/>
            <a:r>
              <a:rPr lang="en-US" dirty="0"/>
              <a:t>Traditional RTL based FPGA kernel development is very time consuming and error prone. </a:t>
            </a:r>
          </a:p>
          <a:p>
            <a:r>
              <a:rPr lang="en-GB" dirty="0"/>
              <a:t>A multi-kernel </a:t>
            </a:r>
            <a:r>
              <a:rPr lang="en-GB" dirty="0" err="1"/>
              <a:t>vivado</a:t>
            </a:r>
            <a:r>
              <a:rPr lang="en-GB" dirty="0"/>
              <a:t> project is very difficult to make. </a:t>
            </a:r>
          </a:p>
          <a:p>
            <a:pPr lvl="1"/>
            <a:r>
              <a:rPr lang="en-GB" dirty="0"/>
              <a:t>Limited resource on FPGA, especially </a:t>
            </a:r>
            <a:r>
              <a:rPr lang="en-GB" b="1" i="1" dirty="0">
                <a:solidFill>
                  <a:srgbClr val="FF0000"/>
                </a:solidFill>
              </a:rPr>
              <a:t>routing</a:t>
            </a:r>
            <a:r>
              <a:rPr lang="en-GB" dirty="0"/>
              <a:t> resource. </a:t>
            </a:r>
          </a:p>
          <a:p>
            <a:r>
              <a:rPr lang="en-US" dirty="0"/>
              <a:t>Hardware competition: </a:t>
            </a:r>
          </a:p>
          <a:p>
            <a:pPr lvl="1"/>
            <a:r>
              <a:rPr lang="en-US" dirty="0"/>
              <a:t>We don’t work on the model, e.g., </a:t>
            </a:r>
            <a:r>
              <a:rPr lang="en-US"/>
              <a:t>different quantization. </a:t>
            </a:r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HLS allows us to develop fast hardware prototype.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We use Vitis HLS for FPGA.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Llama.cpp allows easy integration with many optimized CPU ops.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Don’t reinvent the wheels.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Make two bitstreams for </a:t>
            </a:r>
            <a:r>
              <a:rPr lang="en-US" dirty="0" err="1"/>
              <a:t>vit+prefill</a:t>
            </a:r>
            <a:r>
              <a:rPr lang="en-US" dirty="0"/>
              <a:t> and decode, and switch them during runtime.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Save us from endless CPU time wasted on </a:t>
            </a:r>
            <a:r>
              <a:rPr lang="en-US" dirty="0" err="1"/>
              <a:t>Vivado</a:t>
            </a:r>
            <a:r>
              <a:rPr lang="en-US" dirty="0"/>
              <a:t>.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36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analysis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model consists of two main parts: vision encoder and language model.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Both use transformer layer.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key bottlenecks on the CPU are: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QKVO projection computation/FFN computation/Attention. All </a:t>
            </a:r>
            <a:r>
              <a:rPr lang="en-GB">
                <a:solidFill>
                  <a:srgbClr val="FF0000"/>
                </a:solidFill>
              </a:rPr>
              <a:t>GEMM</a:t>
            </a:r>
            <a:r>
              <a:rPr lang="en-GB"/>
              <a:t> operations.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decoding stage on language model uses </a:t>
            </a:r>
            <a:r>
              <a:rPr lang="en-GB">
                <a:solidFill>
                  <a:srgbClr val="FF0000"/>
                </a:solidFill>
              </a:rPr>
              <a:t>GEMV</a:t>
            </a:r>
            <a:r>
              <a:rPr lang="en-GB"/>
              <a:t>. 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025" y="2732200"/>
            <a:ext cx="5350650" cy="218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Operator choices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decide to accelerate the GEMM/GEMV of the model. Reasons are: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They constitute 80-90% of compute time.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Other operators are mostly scalar operators, pure bandwidth bottleneck.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Model susceptible to exp/Gelu/Swiglu precision. LUT trick degrades accuracy too much.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Attention is not accelerated: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Requires complicated flash-attention style operator fusion to speed up. Very resource demanding.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Attention requires online dequant on two outputs. The CPU can just compute it using floating point arithmetic.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design choices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Stick to the Q8_0 format.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Good accuracy and throughput balanced.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systolic array for GEMM.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Usual tensor core requires 3D routing, too heavy for FPGA limited routing resources.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Tensor core requires O(N^2) data bandwidth while systolic array requires O(N).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stream processing for GEMV.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Fully exploit DDR bandwidth.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Fully interleave data movement and computation.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Agile and fast kernel development.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Use Vitis HLS + AI agent.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Keep the LUT/DSP/FF utilization moderate. This helps reducing the Vitis/Vivado run-time.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Use many BRAM/URAM to improve data locality.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717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Runtime design choice 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84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biggest issue is that the resource on FPGA is not enough to support both GEMM and GEMV. </a:t>
            </a:r>
          </a:p>
          <a:p>
            <a:pPr lvl="1" indent="-342900">
              <a:buSzPts val="1800"/>
              <a:buChar char="●"/>
            </a:pPr>
            <a:r>
              <a:rPr lang="en-US" dirty="0"/>
              <a:t>Or it is very difficult to make bit-stream that fits both. Long dev time.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decide to make two separate bitstream and switch them during runtime.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Normally done by DFX. In this case we just use PYNQ. Slower but simpler development. </a:t>
            </a:r>
            <a:endParaRPr dirty="0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500" y="393650"/>
            <a:ext cx="899550" cy="36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6195" y="1063875"/>
            <a:ext cx="1158863" cy="4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/>
          <p:nvPr/>
        </p:nvSpPr>
        <p:spPr>
          <a:xfrm>
            <a:off x="5634850" y="422125"/>
            <a:ext cx="1632300" cy="31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 gemm.bit</a:t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6209950" y="821075"/>
            <a:ext cx="482100" cy="234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5634850" y="1118775"/>
            <a:ext cx="1632300" cy="31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 server</a:t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6209950" y="1525175"/>
            <a:ext cx="482100" cy="234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5634850" y="1852613"/>
            <a:ext cx="1632300" cy="774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ViT prefill +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Text prefill</a:t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5634850" y="3047525"/>
            <a:ext cx="1632300" cy="572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Decode starts. </a:t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6209950" y="2681225"/>
            <a:ext cx="482100" cy="31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4496725" y="2008925"/>
            <a:ext cx="10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PL+PS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717450" y="3103025"/>
            <a:ext cx="59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750" y="3051300"/>
            <a:ext cx="899550" cy="3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7586350" y="3424025"/>
            <a:ext cx="1158900" cy="572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Switch to gemv.bit</a:t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 rot="5400000">
            <a:off x="7302800" y="3051275"/>
            <a:ext cx="376500" cy="3690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8"/>
          <p:cNvSpPr/>
          <p:nvPr/>
        </p:nvSpPr>
        <p:spPr>
          <a:xfrm rot="10800000">
            <a:off x="7302800" y="3996725"/>
            <a:ext cx="376500" cy="3690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5674250" y="4126375"/>
            <a:ext cx="1632300" cy="572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Decode bost. </a:t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6249350" y="3620225"/>
            <a:ext cx="482100" cy="421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4496725" y="4197125"/>
            <a:ext cx="10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PL+PS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Tiling</a:t>
            </a: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2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GEMM and GEMV use the same tiling strategy.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B[N, K] → (N//512)*(K//256) [min(512, N%512), 256].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K dimension is padded with zeros if K is not multiple of 256.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 tile data layout: (block wise row major)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Intra tile data layout: (column major on subtile) </a:t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526313" y="2571750"/>
            <a:ext cx="8481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tile[0,0]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1374413" y="2571750"/>
            <a:ext cx="8481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tile[0,1]</a:t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2222513" y="2571750"/>
            <a:ext cx="8481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tile[0,2]</a:t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3364938" y="2571750"/>
            <a:ext cx="12036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tile[0,K//256]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3070613" y="2571750"/>
            <a:ext cx="287400" cy="46500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4575463" y="2571750"/>
            <a:ext cx="8481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tile[1,0]</a:t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5423563" y="2571750"/>
            <a:ext cx="8481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tile[1,1]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6271663" y="2571750"/>
            <a:ext cx="8481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tile[1,2]</a:t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7414088" y="2571750"/>
            <a:ext cx="12036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tile[1,K//256]</a:t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7119763" y="2571750"/>
            <a:ext cx="287400" cy="46500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1" name="Google Shape;121;p19"/>
          <p:cNvCxnSpPr/>
          <p:nvPr/>
        </p:nvCxnSpPr>
        <p:spPr>
          <a:xfrm>
            <a:off x="516250" y="3191975"/>
            <a:ext cx="815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19"/>
          <p:cNvSpPr txBox="1"/>
          <p:nvPr/>
        </p:nvSpPr>
        <p:spPr>
          <a:xfrm>
            <a:off x="275350" y="3090212"/>
            <a:ext cx="51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low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8316000" y="3112025"/>
            <a:ext cx="51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high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516248" y="3894775"/>
            <a:ext cx="17376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[col, row]=[0-16, 0]</a:t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2253850" y="3894775"/>
            <a:ext cx="8481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[0-16, 1]</a:t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3389350" y="3894775"/>
            <a:ext cx="11007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[0-16, 255]</a:t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3101938" y="3894775"/>
            <a:ext cx="287400" cy="46500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4490050" y="3894775"/>
            <a:ext cx="11007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[16-32, 0]</a:t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5590750" y="3894775"/>
            <a:ext cx="10113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[16-32, 1]</a:t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6889450" y="3894775"/>
            <a:ext cx="1574400" cy="46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[16-32, 255]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6602038" y="3894775"/>
            <a:ext cx="287400" cy="46500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" name="Google Shape;132;p19"/>
          <p:cNvCxnSpPr/>
          <p:nvPr/>
        </p:nvCxnSpPr>
        <p:spPr>
          <a:xfrm>
            <a:off x="516250" y="4507725"/>
            <a:ext cx="815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" name="Google Shape;133;p19"/>
          <p:cNvSpPr txBox="1"/>
          <p:nvPr/>
        </p:nvSpPr>
        <p:spPr>
          <a:xfrm>
            <a:off x="362325" y="4456862"/>
            <a:ext cx="51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low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8316000" y="4494537"/>
            <a:ext cx="51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high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Tiling (why?)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Bundle 16 int8 data into 128-bit word is good for AXI transaction.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128 x 256 x 8 = 4096B, the minimum amount for efficient DDR read.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Column major on sub-tile is required by the systolic array.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scales for Q8_0 follow similar data layout: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Bundle 8 data because scales are half data type.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min(512, N%512) is applied to data, for scale it’s strictly 512: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Scale tile is only [512, 8]. If N&lt;512 then the scale block is not multiple of 4096B, very DDR inefficient.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Only exception is ViT’s QKVO and ViT’s FFN-up. We have a [256, 8] tile.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Systolic array</a:t>
            </a:r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95100" cy="33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16x16 spatial array.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 = A * B.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tensor flows horizontally. B tensor flows vertically.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systolic array takes 16 int8 data from A/B tensor per cycle.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16x8x2 = 256 bits/cycle. 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1800" y="979375"/>
            <a:ext cx="3704950" cy="35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 design</a:t>
            </a:r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96900" cy="33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PE features an INT8 based MAC.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ap_int&lt;8&gt; for both A/B.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ap_int&lt;24&gt; for C.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C is accumulated locally.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Sampling signal triggers copying of C into the local C reg buffer.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sample signal is not valid, the C also shifts.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sampling signal also shifts.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-GB" b="1" i="1">
                <a:solidFill>
                  <a:srgbClr val="0000FF"/>
                </a:solidFill>
              </a:rPr>
              <a:t>A full PE. </a:t>
            </a:r>
            <a:endParaRPr b="1" i="1">
              <a:solidFill>
                <a:srgbClr val="0000FF"/>
              </a:solidFill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713" y="1017713"/>
            <a:ext cx="410527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Sample network</a:t>
            </a:r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sampling signal shifts in Manhatten style.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Sample_in = Sample_vertical || Sample_horizontal.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matches the wavefront of the systolic array.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2*N-1 cycles to sample all Cs. 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700" y="834275"/>
            <a:ext cx="4024249" cy="38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 (result) network</a:t>
            </a:r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58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C network is complicated.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shifts diagonally.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are also blank PE (without computation units) to convert the column into the wavefront.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will use 3x3 as an example to demonstrate. </a:t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9700" y="1031875"/>
            <a:ext cx="55626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 (result) network (intermezzo)</a:t>
            </a:r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Why don’t we just sample and shift C regularly?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core issue is that the systolic array has a large launch overhead. We want to halt the systolic array minimally.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Problem 1: Q8_0 requires dequantization every 32 values. Cannot feed A/B as a continuous stream.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Each PE requires 1xINT8 DSP + 2xFP32 mult + 1xFP32 add dsp.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FP32 arithmetic is notorious for its latency.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Problem 2: vertical/horizontal shift produces skewed outputs.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Any sampling scheme not matching the wavefront of the systolic array has this problem.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C (result) network</a:t>
            </a:r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Dashed line is the wavefront. The coord in the cloud is the coord of the generated C tensor. </a:t>
            </a:r>
            <a:endParaRPr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200" y="1839600"/>
            <a:ext cx="3623949" cy="241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1255050" y="4258450"/>
            <a:ext cx="181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Sample cycle 0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3950" y="1839600"/>
            <a:ext cx="3564100" cy="236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 txBox="1"/>
          <p:nvPr/>
        </p:nvSpPr>
        <p:spPr>
          <a:xfrm>
            <a:off x="5499025" y="4258450"/>
            <a:ext cx="181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Sample cycle 1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C (result) network (cont’d)</a:t>
            </a:r>
            <a:endParaRPr/>
          </a:p>
        </p:txBody>
      </p:sp>
      <p:sp>
        <p:nvSpPr>
          <p:cNvPr id="190" name="Google Shape;19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75" y="1564463"/>
            <a:ext cx="3998150" cy="25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5688" y="1550975"/>
            <a:ext cx="3990975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1342100" y="4200400"/>
            <a:ext cx="181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Sample cycle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5834438" y="4251250"/>
            <a:ext cx="181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Sample cycle 3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C (result) network (cont’d)</a:t>
            </a:r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1" name="Google Shape;2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988" y="1429150"/>
            <a:ext cx="4029075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650" y="1424388"/>
            <a:ext cx="39624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/>
        </p:nvSpPr>
        <p:spPr>
          <a:xfrm>
            <a:off x="1276800" y="4107175"/>
            <a:ext cx="181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Sample cycle 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5767450" y="4107175"/>
            <a:ext cx="181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Sample cycle 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C (result) network</a:t>
            </a:r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additional blank PE allows the columns of C to be collected over N clock cycles at the bottom.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helps reduce the routing effort between the systolic array and the BRAM/URAM.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Since the systolic array produces a column of C per cycle, the C BRAM/URAM can be resized, not partitioned.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HLS kernel design</a:t>
            </a:r>
            <a:endParaRPr/>
          </a:p>
        </p:txBody>
      </p:sp>
      <p:sp>
        <p:nvSpPr>
          <p:cNvPr id="216" name="Google Shape;21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HLS kernel is designed on top of the 16x16 spatial systolic array.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takes at most a M/N/K=512/512/256 tile per launch.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user can choose M/N as long as they are multiple of 16.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But not K. K is fixed at 256. The reason is a non-constant K mess with the HLS loop dependency analysis.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takes the int8 A/B and half A/B scale separately.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computes M/N/K=16x16x256 tile continuously, to achieve this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Computing 16x16x32 tile and accumulate locally as usual.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Meanwhile, compute the dequantization scale by multiplying a_scale and b_scale.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Send out and store the 16x16 output tile in a local buffer, in total (256/32) 16x16 output tiles in the local buffer.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After that, we compute the float accumulation.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 details, refer to the HLS design.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Main iteration space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Why not interleave ACC with the systolic array computation?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FP arith has high latency.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HLS fails to predict the inter-loop dependencies. II drops significantly.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 theory interleaving is possible, but probably in HDL or using dataflow. </a:t>
            </a:r>
            <a:endParaRPr/>
          </a:p>
        </p:txBody>
      </p:sp>
      <p:pic>
        <p:nvPicPr>
          <p:cNvPr id="223" name="Google Shape;2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988" y="2366525"/>
            <a:ext cx="7614024" cy="2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GEMV design</a:t>
            </a:r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GEMV does not have much data re-use.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Apply stream processing to keep the DDR busy.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maximize bandwidth?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4 HP ports. → 128-bit x 200MHz x4 = 12.8GB/s → 60% of max 19.2GB/s DDR bandwidth.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On each port, 4KB axi burst access. → DDR compatible.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Decoding must use the same data tiling as the prefill to avoid extra weight reformatting during runtime.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Stream processing between weight data read and computation.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GEMV design</a:t>
            </a:r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dataflow pragma allows pipelining among tasks with different II.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Heavy use of fifo. Less use of BRAM/URAM. </a:t>
            </a:r>
            <a:endParaRPr/>
          </a:p>
        </p:txBody>
      </p:sp>
      <p:sp>
        <p:nvSpPr>
          <p:cNvPr id="236" name="Google Shape;236;p33"/>
          <p:cNvSpPr/>
          <p:nvPr/>
        </p:nvSpPr>
        <p:spPr>
          <a:xfrm rot="-5400000">
            <a:off x="677125" y="2961600"/>
            <a:ext cx="2448600" cy="71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Weight data tile reading</a:t>
            </a:r>
            <a:endParaRPr/>
          </a:p>
        </p:txBody>
      </p:sp>
      <p:sp>
        <p:nvSpPr>
          <p:cNvPr id="237" name="Google Shape;237;p33"/>
          <p:cNvSpPr/>
          <p:nvPr/>
        </p:nvSpPr>
        <p:spPr>
          <a:xfrm>
            <a:off x="841300" y="3098400"/>
            <a:ext cx="663600" cy="43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axi</a:t>
            </a:r>
            <a:endParaRPr/>
          </a:p>
        </p:txBody>
      </p:sp>
      <p:sp>
        <p:nvSpPr>
          <p:cNvPr id="238" name="Google Shape;238;p33"/>
          <p:cNvSpPr/>
          <p:nvPr/>
        </p:nvSpPr>
        <p:spPr>
          <a:xfrm>
            <a:off x="2368500" y="3098400"/>
            <a:ext cx="663600" cy="43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fifo</a:t>
            </a:r>
            <a:endParaRPr/>
          </a:p>
        </p:txBody>
      </p:sp>
      <p:sp>
        <p:nvSpPr>
          <p:cNvPr id="239" name="Google Shape;239;p33"/>
          <p:cNvSpPr/>
          <p:nvPr/>
        </p:nvSpPr>
        <p:spPr>
          <a:xfrm rot="-5400000">
            <a:off x="2238525" y="2961600"/>
            <a:ext cx="2448600" cy="71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64 way i8 MAC</a:t>
            </a:r>
            <a:endParaRPr/>
          </a:p>
        </p:txBody>
      </p:sp>
      <p:sp>
        <p:nvSpPr>
          <p:cNvPr id="240" name="Google Shape;240;p33"/>
          <p:cNvSpPr/>
          <p:nvPr/>
        </p:nvSpPr>
        <p:spPr>
          <a:xfrm>
            <a:off x="3893550" y="3098400"/>
            <a:ext cx="663600" cy="43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fifo</a:t>
            </a:r>
            <a:endParaRPr/>
          </a:p>
        </p:txBody>
      </p:sp>
      <p:sp>
        <p:nvSpPr>
          <p:cNvPr id="241" name="Google Shape;241;p33"/>
          <p:cNvSpPr/>
          <p:nvPr/>
        </p:nvSpPr>
        <p:spPr>
          <a:xfrm rot="-5400000">
            <a:off x="3763575" y="2961600"/>
            <a:ext cx="2448600" cy="71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64 way dequantization</a:t>
            </a:r>
            <a:endParaRPr/>
          </a:p>
        </p:txBody>
      </p:sp>
      <p:sp>
        <p:nvSpPr>
          <p:cNvPr id="242" name="Google Shape;242;p33"/>
          <p:cNvSpPr/>
          <p:nvPr/>
        </p:nvSpPr>
        <p:spPr>
          <a:xfrm>
            <a:off x="5418600" y="3098400"/>
            <a:ext cx="663600" cy="43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fifo</a:t>
            </a:r>
            <a:endParaRPr/>
          </a:p>
        </p:txBody>
      </p:sp>
      <p:sp>
        <p:nvSpPr>
          <p:cNvPr id="243" name="Google Shape;243;p33"/>
          <p:cNvSpPr/>
          <p:nvPr/>
        </p:nvSpPr>
        <p:spPr>
          <a:xfrm rot="-5400000">
            <a:off x="5288625" y="2961600"/>
            <a:ext cx="2448600" cy="71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64 way inplace float accumulation</a:t>
            </a:r>
            <a:endParaRPr/>
          </a:p>
        </p:txBody>
      </p:sp>
      <p:sp>
        <p:nvSpPr>
          <p:cNvPr id="244" name="Google Shape;244;p33"/>
          <p:cNvSpPr/>
          <p:nvPr/>
        </p:nvSpPr>
        <p:spPr>
          <a:xfrm>
            <a:off x="6943650" y="3098400"/>
            <a:ext cx="780900" cy="43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buffer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/>
          <p:nvPr/>
        </p:nvSpPr>
        <p:spPr>
          <a:xfrm>
            <a:off x="887125" y="1838250"/>
            <a:ext cx="5766900" cy="2260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508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Weight data tile reading task</a:t>
            </a:r>
            <a:endParaRPr/>
          </a:p>
        </p:txBody>
      </p:sp>
      <p:sp>
        <p:nvSpPr>
          <p:cNvPr id="251" name="Google Shape;251;p34"/>
          <p:cNvSpPr/>
          <p:nvPr/>
        </p:nvSpPr>
        <p:spPr>
          <a:xfrm>
            <a:off x="440950" y="1060725"/>
            <a:ext cx="8218800" cy="5412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4"/>
          <p:cNvSpPr txBox="1"/>
          <p:nvPr/>
        </p:nvSpPr>
        <p:spPr>
          <a:xfrm>
            <a:off x="6140725" y="599025"/>
            <a:ext cx="230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DDR address space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3" name="Google Shape;253;p34"/>
          <p:cNvSpPr/>
          <p:nvPr/>
        </p:nvSpPr>
        <p:spPr>
          <a:xfrm>
            <a:off x="1078775" y="1060725"/>
            <a:ext cx="1393800" cy="541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[0-16, 0-256]</a:t>
            </a:r>
            <a:endParaRPr/>
          </a:p>
        </p:txBody>
      </p:sp>
      <p:sp>
        <p:nvSpPr>
          <p:cNvPr id="254" name="Google Shape;254;p34"/>
          <p:cNvSpPr/>
          <p:nvPr/>
        </p:nvSpPr>
        <p:spPr>
          <a:xfrm>
            <a:off x="2472575" y="1060725"/>
            <a:ext cx="1393800" cy="541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[16-32, 0-256]</a:t>
            </a:r>
            <a:endParaRPr/>
          </a:p>
        </p:txBody>
      </p:sp>
      <p:sp>
        <p:nvSpPr>
          <p:cNvPr id="255" name="Google Shape;255;p34"/>
          <p:cNvSpPr/>
          <p:nvPr/>
        </p:nvSpPr>
        <p:spPr>
          <a:xfrm>
            <a:off x="3866375" y="1060725"/>
            <a:ext cx="1393800" cy="541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[32-48, 0-256]</a:t>
            </a:r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5260175" y="1060725"/>
            <a:ext cx="1393800" cy="541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[48-64, 0-256]</a:t>
            </a:r>
            <a:endParaRPr/>
          </a:p>
        </p:txBody>
      </p:sp>
      <p:cxnSp>
        <p:nvCxnSpPr>
          <p:cNvPr id="257" name="Google Shape;257;p34"/>
          <p:cNvCxnSpPr/>
          <p:nvPr/>
        </p:nvCxnSpPr>
        <p:spPr>
          <a:xfrm rot="10800000">
            <a:off x="1078775" y="1616175"/>
            <a:ext cx="0" cy="22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34"/>
          <p:cNvCxnSpPr/>
          <p:nvPr/>
        </p:nvCxnSpPr>
        <p:spPr>
          <a:xfrm rot="10800000">
            <a:off x="2472575" y="1616175"/>
            <a:ext cx="0" cy="22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9" name="Google Shape;259;p34"/>
          <p:cNvCxnSpPr/>
          <p:nvPr/>
        </p:nvCxnSpPr>
        <p:spPr>
          <a:xfrm rot="10800000">
            <a:off x="3866375" y="1616175"/>
            <a:ext cx="0" cy="22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Google Shape;260;p34"/>
          <p:cNvCxnSpPr/>
          <p:nvPr/>
        </p:nvCxnSpPr>
        <p:spPr>
          <a:xfrm rot="10800000">
            <a:off x="5260175" y="1616175"/>
            <a:ext cx="0" cy="22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1" name="Google Shape;261;p34"/>
          <p:cNvSpPr/>
          <p:nvPr/>
        </p:nvSpPr>
        <p:spPr>
          <a:xfrm>
            <a:off x="1078775" y="1927350"/>
            <a:ext cx="865500" cy="5169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Port 1</a:t>
            </a:r>
            <a:endParaRPr/>
          </a:p>
        </p:txBody>
      </p:sp>
      <p:sp>
        <p:nvSpPr>
          <p:cNvPr id="262" name="Google Shape;262;p34"/>
          <p:cNvSpPr/>
          <p:nvPr/>
        </p:nvSpPr>
        <p:spPr>
          <a:xfrm>
            <a:off x="2472575" y="1927350"/>
            <a:ext cx="865500" cy="5169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Port 2</a:t>
            </a:r>
            <a:endParaRPr/>
          </a:p>
        </p:txBody>
      </p:sp>
      <p:sp>
        <p:nvSpPr>
          <p:cNvPr id="263" name="Google Shape;263;p34"/>
          <p:cNvSpPr/>
          <p:nvPr/>
        </p:nvSpPr>
        <p:spPr>
          <a:xfrm>
            <a:off x="3866375" y="1927350"/>
            <a:ext cx="865500" cy="5169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Port 3</a:t>
            </a:r>
            <a:endParaRPr/>
          </a:p>
        </p:txBody>
      </p:sp>
      <p:sp>
        <p:nvSpPr>
          <p:cNvPr id="264" name="Google Shape;264;p34"/>
          <p:cNvSpPr/>
          <p:nvPr/>
        </p:nvSpPr>
        <p:spPr>
          <a:xfrm>
            <a:off x="5260175" y="1927350"/>
            <a:ext cx="865500" cy="5169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Port 4</a:t>
            </a:r>
            <a:endParaRPr/>
          </a:p>
        </p:txBody>
      </p:sp>
      <p:sp>
        <p:nvSpPr>
          <p:cNvPr id="265" name="Google Shape;265;p34"/>
          <p:cNvSpPr/>
          <p:nvPr/>
        </p:nvSpPr>
        <p:spPr>
          <a:xfrm>
            <a:off x="1078775" y="2703000"/>
            <a:ext cx="5047200" cy="619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concatenation</a:t>
            </a:r>
            <a:endParaRPr/>
          </a:p>
        </p:txBody>
      </p:sp>
      <p:sp>
        <p:nvSpPr>
          <p:cNvPr id="266" name="Google Shape;266;p34"/>
          <p:cNvSpPr/>
          <p:nvPr/>
        </p:nvSpPr>
        <p:spPr>
          <a:xfrm>
            <a:off x="3396125" y="3407575"/>
            <a:ext cx="412500" cy="572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4"/>
          <p:cNvSpPr txBox="1"/>
          <p:nvPr/>
        </p:nvSpPr>
        <p:spPr>
          <a:xfrm>
            <a:off x="5092775" y="3581250"/>
            <a:ext cx="148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Task domain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3246000" y="3993525"/>
            <a:ext cx="743425" cy="743425"/>
          </a:xfrm>
          <a:prstGeom prst="flowChartMagneticDisk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fifo</a:t>
            </a:r>
            <a:endParaRPr/>
          </a:p>
        </p:txBody>
      </p:sp>
      <p:sp>
        <p:nvSpPr>
          <p:cNvPr id="269" name="Google Shape;269;p34"/>
          <p:cNvSpPr/>
          <p:nvPr/>
        </p:nvSpPr>
        <p:spPr>
          <a:xfrm>
            <a:off x="4145250" y="4225850"/>
            <a:ext cx="853500" cy="395100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[0-64,0]</a:t>
            </a:r>
            <a:endParaRPr/>
          </a:p>
        </p:txBody>
      </p:sp>
      <p:sp>
        <p:nvSpPr>
          <p:cNvPr id="270" name="Google Shape;270;p34"/>
          <p:cNvSpPr/>
          <p:nvPr/>
        </p:nvSpPr>
        <p:spPr>
          <a:xfrm>
            <a:off x="4998750" y="4225850"/>
            <a:ext cx="853500" cy="395100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[0-64,1]</a:t>
            </a:r>
            <a:endParaRPr/>
          </a:p>
        </p:txBody>
      </p:sp>
      <p:sp>
        <p:nvSpPr>
          <p:cNvPr id="271" name="Google Shape;271;p34"/>
          <p:cNvSpPr/>
          <p:nvPr/>
        </p:nvSpPr>
        <p:spPr>
          <a:xfrm>
            <a:off x="5852250" y="4225850"/>
            <a:ext cx="853500" cy="395100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[0-64,2]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64 way i8 MAC task</a:t>
            </a:r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m in range(80):</a:t>
            </a:r>
            <a:endParaRPr/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i in range(32):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		For j in range(64):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			#unroll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Cint[m, j] += Cint[m, j] + A[m*32+i]*B[j, m*32+i]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Computes the MAC of each Q8_0 tile (32 numbers).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Downsample the input stream data rate by 32. </a:t>
            </a:r>
            <a:endParaRPr/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Input FIFO: 64x8bit B tensor data per clock cycle. </a:t>
            </a:r>
            <a:endParaRPr/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Output FIFO: 64x22bit accumulation data per </a:t>
            </a:r>
            <a:r>
              <a:rPr lang="en-GB" b="1" i="1"/>
              <a:t>32</a:t>
            </a:r>
            <a:r>
              <a:rPr lang="en-GB"/>
              <a:t> clock cycles.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Runs at II=1. </a:t>
            </a:r>
            <a:endParaRPr/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Int8 MAC is very fast using DSP48.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64 way dequantization</a:t>
            </a:r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i in range(80):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	For j in range(64):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		#unroll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Cdeq[i, j] = (float) Cint[i, j] * A_scale[i] * B_scale[j, i]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Dequantize each 32 group int8 accumulation to float using A_scales and B_scales (preloaded onto the FPGA).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Hide A_scale/B_scale fetching time and computation in data stream.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Runs at 1&lt;II&lt;32. </a:t>
            </a:r>
            <a:endParaRPr/>
          </a:p>
        </p:txBody>
      </p:sp>
      <p:cxnSp>
        <p:nvCxnSpPr>
          <p:cNvPr id="284" name="Google Shape;284;p36"/>
          <p:cNvCxnSpPr/>
          <p:nvPr/>
        </p:nvCxnSpPr>
        <p:spPr>
          <a:xfrm>
            <a:off x="591825" y="3855100"/>
            <a:ext cx="7658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5" name="Google Shape;285;p36"/>
          <p:cNvSpPr txBox="1"/>
          <p:nvPr/>
        </p:nvSpPr>
        <p:spPr>
          <a:xfrm>
            <a:off x="8250225" y="3639550"/>
            <a:ext cx="668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cycle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286" name="Google Shape;286;p36"/>
          <p:cNvCxnSpPr/>
          <p:nvPr/>
        </p:nvCxnSpPr>
        <p:spPr>
          <a:xfrm>
            <a:off x="843975" y="3779475"/>
            <a:ext cx="0" cy="13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6"/>
          <p:cNvCxnSpPr/>
          <p:nvPr/>
        </p:nvCxnSpPr>
        <p:spPr>
          <a:xfrm>
            <a:off x="2290075" y="3779475"/>
            <a:ext cx="0" cy="13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" name="Google Shape;288;p36"/>
          <p:cNvSpPr txBox="1"/>
          <p:nvPr/>
        </p:nvSpPr>
        <p:spPr>
          <a:xfrm>
            <a:off x="1795225" y="3424000"/>
            <a:ext cx="10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</a:rPr>
              <a:t>Cint[0, :]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289" name="Google Shape;289;p36"/>
          <p:cNvSpPr txBox="1"/>
          <p:nvPr/>
        </p:nvSpPr>
        <p:spPr>
          <a:xfrm>
            <a:off x="2120350" y="3884300"/>
            <a:ext cx="446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32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90" name="Google Shape;290;p36"/>
          <p:cNvSpPr txBox="1"/>
          <p:nvPr/>
        </p:nvSpPr>
        <p:spPr>
          <a:xfrm>
            <a:off x="723175" y="3884300"/>
            <a:ext cx="446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0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1425925" y="3884300"/>
            <a:ext cx="227400" cy="232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6"/>
          <p:cNvSpPr txBox="1"/>
          <p:nvPr/>
        </p:nvSpPr>
        <p:spPr>
          <a:xfrm>
            <a:off x="677125" y="4070650"/>
            <a:ext cx="172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</a:rPr>
              <a:t>Load and </a:t>
            </a:r>
            <a:endParaRPr sz="10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</a:rPr>
              <a:t>compute scales</a:t>
            </a:r>
            <a:endParaRPr sz="1000" b="1">
              <a:solidFill>
                <a:schemeClr val="dk2"/>
              </a:solidFill>
            </a:endParaRPr>
          </a:p>
        </p:txBody>
      </p:sp>
      <p:cxnSp>
        <p:nvCxnSpPr>
          <p:cNvPr id="293" name="Google Shape;293;p36"/>
          <p:cNvCxnSpPr/>
          <p:nvPr/>
        </p:nvCxnSpPr>
        <p:spPr>
          <a:xfrm>
            <a:off x="2566450" y="3779475"/>
            <a:ext cx="0" cy="13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4" name="Google Shape;294;p36"/>
          <p:cNvSpPr txBox="1"/>
          <p:nvPr/>
        </p:nvSpPr>
        <p:spPr>
          <a:xfrm>
            <a:off x="2343400" y="3884300"/>
            <a:ext cx="446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33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1715250" y="4070650"/>
            <a:ext cx="176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1"/>
                </a:solidFill>
              </a:rPr>
              <a:t>Cdeq[0, :]</a:t>
            </a:r>
            <a:endParaRPr sz="1600">
              <a:solidFill>
                <a:schemeClr val="accent1"/>
              </a:solidFill>
            </a:endParaRPr>
          </a:p>
        </p:txBody>
      </p:sp>
      <p:cxnSp>
        <p:nvCxnSpPr>
          <p:cNvPr id="296" name="Google Shape;296;p36"/>
          <p:cNvCxnSpPr/>
          <p:nvPr/>
        </p:nvCxnSpPr>
        <p:spPr>
          <a:xfrm>
            <a:off x="3836475" y="3779475"/>
            <a:ext cx="0" cy="13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36"/>
          <p:cNvSpPr txBox="1"/>
          <p:nvPr/>
        </p:nvSpPr>
        <p:spPr>
          <a:xfrm>
            <a:off x="3613425" y="3884300"/>
            <a:ext cx="446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64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3320925" y="3424000"/>
            <a:ext cx="1031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</a:rPr>
              <a:t>Cint[1, :]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64 way inplace float accumulation</a:t>
            </a:r>
            <a:endParaRPr/>
          </a:p>
        </p:txBody>
      </p:sp>
      <p:sp>
        <p:nvSpPr>
          <p:cNvPr id="304" name="Google Shape;304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i in range(80):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	For j in range(64):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		#unroll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Csum[j] += Cdeq[i, j]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Accumulate using float addition over the whole K=2560 dimension.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Runs at 1&lt;II&lt;32.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Store results to a local buffer.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GEMV summary</a:t>
            </a:r>
            <a:endParaRPr/>
          </a:p>
        </p:txBody>
      </p:sp>
      <p:sp>
        <p:nvSpPr>
          <p:cNvPr id="310" name="Google Shape;31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Stream based design.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More FIFOs, less cycle accurate control.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Float arithmetic latency hidden by the 32-cycle interval produced by the i8 MAC task.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Fully pipeline between the B tensor loading and the MAC computation.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Main latency still limited by B loading. In other words, the computation is completely hidden!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Achieved DDR loading data rate roughly 10GB/s, more than 50% of the total DDR bandwidth (19.2GB/s).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Llama.cpp modification</a:t>
            </a:r>
            <a:endParaRPr/>
          </a:p>
        </p:txBody>
      </p:sp>
      <p:sp>
        <p:nvSpPr>
          <p:cNvPr id="316" name="Google Shape;316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Catch the ViT and transformers on language model and dispatch them to the FPGA.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ViT gemm shapes contain: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M/N/K = 768/1024/768 -&gt; QKVO projection.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M/N/K = 3072/1024/768 -&gt; FFN-up.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M/N/K = 768/1024/3072 -&gt; FFN-down.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language model shapes contain: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M/N/K = 960/X/960 -&gt; QO projection.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M/N/K = 960/X/320 -&gt; KV projection.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M/N/K = 2560/X/960 -&gt; FFN-up/FFN-gate.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M/N/K = 960/X/2560 -&gt; FFN-down.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Decoding gemv captured.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F3328-9088-3F86-CB94-544B6E7A2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</a:t>
            </a:r>
            <a:r>
              <a:rPr lang="en-US" altLang="zh-CN" dirty="0"/>
              <a:t>ain modifications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0CEE3F-B6F7-8168-27BC-A7203F0FE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Bitstream switching location.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EB0EB9-AB26-ADB4-75E2-2792BE1CD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13" y="1774019"/>
            <a:ext cx="4838735" cy="2867046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C0C2178E-D907-A87C-943D-5EDD42212E13}"/>
              </a:ext>
            </a:extLst>
          </p:cNvPr>
          <p:cNvSpPr/>
          <p:nvPr/>
        </p:nvSpPr>
        <p:spPr>
          <a:xfrm>
            <a:off x="1653483" y="3722914"/>
            <a:ext cx="3856980" cy="6875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68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1BC8-70E8-6642-AAB3-F4CC100D1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</a:t>
            </a:r>
            <a:r>
              <a:rPr lang="en-US" altLang="zh-CN" dirty="0"/>
              <a:t>ain modifications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B814C-CDF6-D029-B11C-F2214F29E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to do </a:t>
            </a:r>
            <a:r>
              <a:rPr lang="en-US" dirty="0" err="1"/>
              <a:t>mul_mat</a:t>
            </a:r>
            <a:r>
              <a:rPr lang="en-US" dirty="0"/>
              <a:t> in </a:t>
            </a:r>
            <a:r>
              <a:rPr lang="en-US" dirty="0" err="1"/>
              <a:t>fpga</a:t>
            </a:r>
            <a:r>
              <a:rPr lang="en-US" dirty="0"/>
              <a:t> domain. </a:t>
            </a:r>
          </a:p>
          <a:p>
            <a:pPr lvl="1"/>
            <a:r>
              <a:rPr lang="en-US" dirty="0"/>
              <a:t>If not supported, continue with CPU’s op. </a:t>
            </a:r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B4903F-3A55-293A-639F-02F846CA6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03" y="2285170"/>
            <a:ext cx="2200291" cy="1590687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C2BE368D-FEA4-7767-B550-9AB1F0F551B9}"/>
              </a:ext>
            </a:extLst>
          </p:cNvPr>
          <p:cNvSpPr/>
          <p:nvPr/>
        </p:nvSpPr>
        <p:spPr>
          <a:xfrm>
            <a:off x="629080" y="3262277"/>
            <a:ext cx="2286114" cy="6135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62744D-8225-1172-58F1-9AB1AD347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242" y="1851311"/>
            <a:ext cx="4410107" cy="315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25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C1D26-A7E2-2406-7A15-1982957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</a:t>
            </a:r>
            <a:r>
              <a:rPr lang="en-US" altLang="zh-CN" dirty="0"/>
              <a:t>ain modifications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D33A2A-29BA-2AAA-73EF-E470BFCA6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call FPGA kernel with thread 0. </a:t>
            </a:r>
          </a:p>
          <a:p>
            <a:pPr lvl="1"/>
            <a:r>
              <a:rPr lang="en-US" dirty="0"/>
              <a:t>Other threads just return success. </a:t>
            </a:r>
          </a:p>
          <a:p>
            <a:r>
              <a:rPr lang="en-US" dirty="0"/>
              <a:t>Call FPGA driver API. </a:t>
            </a:r>
          </a:p>
          <a:p>
            <a:r>
              <a:rPr lang="en-US" dirty="0"/>
              <a:t>The FPGA driver API includes input quant/FPGA launch/</a:t>
            </a:r>
            <a:r>
              <a:rPr lang="en-US" dirty="0" err="1"/>
              <a:t>memcpy</a:t>
            </a:r>
            <a:r>
              <a:rPr lang="en-US" dirty="0"/>
              <a:t> for the output…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A6381B-A41D-DBEA-4037-BD5F7179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082" y="2637065"/>
            <a:ext cx="4400582" cy="223839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7F84C715-3C42-700E-C8EE-C1B2656A40C4}"/>
              </a:ext>
            </a:extLst>
          </p:cNvPr>
          <p:cNvSpPr/>
          <p:nvPr/>
        </p:nvSpPr>
        <p:spPr>
          <a:xfrm>
            <a:off x="2124433" y="3069771"/>
            <a:ext cx="1739423" cy="2681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A36203-3C0D-52C0-F5D8-C62935E62043}"/>
              </a:ext>
            </a:extLst>
          </p:cNvPr>
          <p:cNvSpPr txBox="1"/>
          <p:nvPr/>
        </p:nvSpPr>
        <p:spPr>
          <a:xfrm>
            <a:off x="3918900" y="2746003"/>
            <a:ext cx="2634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Legacy. FFN_DOWN includes </a:t>
            </a:r>
          </a:p>
          <a:p>
            <a:r>
              <a:rPr lang="en-US" dirty="0">
                <a:solidFill>
                  <a:srgbClr val="FF0000"/>
                </a:solidFill>
              </a:rPr>
              <a:t>many layers…</a:t>
            </a:r>
          </a:p>
        </p:txBody>
      </p:sp>
    </p:spTree>
    <p:extLst>
      <p:ext uri="{BB962C8B-B14F-4D97-AF65-F5344CB8AC3E}">
        <p14:creationId xmlns:p14="http://schemas.microsoft.com/office/powerpoint/2010/main" val="4280143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CD51F-3C31-3A21-3126-D4F661595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Achieved results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85480D-E283-E13F-7705-317BF71BA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 </a:t>
            </a:r>
            <a:r>
              <a:rPr lang="en-US" dirty="0" err="1"/>
              <a:t>hls</a:t>
            </a:r>
            <a:r>
              <a:rPr lang="en-US" dirty="0"/>
              <a:t> kernel. </a:t>
            </a:r>
          </a:p>
          <a:p>
            <a:r>
              <a:rPr lang="en-US" dirty="0"/>
              <a:t>Sorry that names are acronyms. Stupid </a:t>
            </a:r>
            <a:r>
              <a:rPr lang="en-US" dirty="0" err="1"/>
              <a:t>vivado’s</a:t>
            </a:r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naming issues.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5F8428-6DA4-B1A5-1D1F-2C5B0DD86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20" y="2734085"/>
            <a:ext cx="2828946" cy="11525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1D9CB2E-F002-9471-9D54-623435608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953" y="2155222"/>
            <a:ext cx="3695727" cy="1981214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66F439E1-819A-0AE8-6BC5-187414CD94AB}"/>
              </a:ext>
            </a:extLst>
          </p:cNvPr>
          <p:cNvSpPr/>
          <p:nvPr/>
        </p:nvSpPr>
        <p:spPr>
          <a:xfrm>
            <a:off x="4053632" y="3434754"/>
            <a:ext cx="2998694" cy="1312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200200-455B-8B87-4166-BE7C0047EE28}"/>
              </a:ext>
            </a:extLst>
          </p:cNvPr>
          <p:cNvSpPr txBox="1"/>
          <p:nvPr/>
        </p:nvSpPr>
        <p:spPr>
          <a:xfrm>
            <a:off x="6451255" y="3126977"/>
            <a:ext cx="1508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Main MAC loop. </a:t>
            </a:r>
          </a:p>
        </p:txBody>
      </p:sp>
    </p:spTree>
    <p:extLst>
      <p:ext uri="{BB962C8B-B14F-4D97-AF65-F5344CB8AC3E}">
        <p14:creationId xmlns:p14="http://schemas.microsoft.com/office/powerpoint/2010/main" val="4007469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6BBF6-9016-1B33-0F31-73714A0B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Achieved results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085F3A-012E-C6AF-3673-B263CCF4B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GEMV </a:t>
            </a:r>
            <a:r>
              <a:rPr lang="en-US" dirty="0" err="1"/>
              <a:t>hls</a:t>
            </a:r>
            <a:r>
              <a:rPr lang="en-US" dirty="0"/>
              <a:t> kernel. </a:t>
            </a:r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400496-0EF2-EBE5-4AE8-AF79DDF00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5" y="2437930"/>
            <a:ext cx="3228999" cy="9620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9D7BDF-F082-8703-98BF-AF70E7365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842" y="1880714"/>
            <a:ext cx="3619526" cy="207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38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5FBB0-EDD7-177C-79FF-04439C73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run.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69A996-228C-36D1-DA98-134DE9FC1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User name: root. Password: ck197&amp;pMjt641..7</a:t>
            </a:r>
          </a:p>
          <a:p>
            <a:r>
              <a:rPr lang="en-US" dirty="0"/>
              <a:t>Connect the FPGA to LAN. Find out the LAN address. Connect to the </a:t>
            </a:r>
            <a:r>
              <a:rPr lang="en-US" dirty="0" err="1"/>
              <a:t>jupyter</a:t>
            </a:r>
            <a:r>
              <a:rPr lang="en-US" dirty="0"/>
              <a:t> notebook. </a:t>
            </a:r>
          </a:p>
          <a:p>
            <a:r>
              <a:rPr lang="en-US" dirty="0"/>
              <a:t>Three steps in parallel: </a:t>
            </a:r>
          </a:p>
          <a:p>
            <a:pPr lvl="1"/>
            <a:r>
              <a:rPr lang="en-US" dirty="0"/>
              <a:t>Run /root/</a:t>
            </a:r>
            <a:r>
              <a:rPr lang="en-US" dirty="0" err="1"/>
              <a:t>jupyter_notebooks</a:t>
            </a:r>
            <a:r>
              <a:rPr lang="en-US" dirty="0"/>
              <a:t>/</a:t>
            </a:r>
            <a:r>
              <a:rPr lang="en-US" dirty="0" err="1"/>
              <a:t>hw</a:t>
            </a:r>
            <a:r>
              <a:rPr lang="en-US" dirty="0"/>
              <a:t>/</a:t>
            </a:r>
            <a:r>
              <a:rPr lang="en-US" dirty="0" err="1"/>
              <a:t>load_overlay.ipynb</a:t>
            </a:r>
            <a:r>
              <a:rPr lang="en-US" dirty="0"/>
              <a:t> in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lvl="1"/>
            <a:r>
              <a:rPr lang="en-US" dirty="0"/>
              <a:t>Run llama-server:</a:t>
            </a:r>
          </a:p>
          <a:p>
            <a:pPr lvl="2"/>
            <a:r>
              <a:rPr lang="en-US" dirty="0"/>
              <a:t>[bash] cd /root/</a:t>
            </a:r>
            <a:r>
              <a:rPr lang="en-US" dirty="0" err="1"/>
              <a:t>jupyter_notebooks</a:t>
            </a:r>
            <a:r>
              <a:rPr lang="en-US" dirty="0"/>
              <a:t>/</a:t>
            </a:r>
            <a:r>
              <a:rPr lang="en-US" dirty="0" err="1"/>
              <a:t>sw</a:t>
            </a:r>
            <a:endParaRPr lang="en-US" dirty="0"/>
          </a:p>
          <a:p>
            <a:pPr lvl="2"/>
            <a:r>
              <a:rPr lang="en-US" dirty="0"/>
              <a:t>[bash] ./build-release/bin/llama-server -m ./inputs/SmolVLM2-500M-Video-Instruct-Q8_0.gguf --</a:t>
            </a:r>
            <a:r>
              <a:rPr lang="en-US" dirty="0" err="1"/>
              <a:t>mmproj</a:t>
            </a:r>
            <a:r>
              <a:rPr lang="en-US" dirty="0"/>
              <a:t> ./inputs/mmproj-SmolVLM2-500M-Video-Instruct-Q8_0.gguf</a:t>
            </a:r>
          </a:p>
          <a:p>
            <a:pPr lvl="1"/>
            <a:r>
              <a:rPr lang="en-US" dirty="0"/>
              <a:t>Run test scripts: </a:t>
            </a:r>
          </a:p>
          <a:p>
            <a:pPr lvl="2"/>
            <a:r>
              <a:rPr lang="en-US" dirty="0"/>
              <a:t>[bash] cd </a:t>
            </a:r>
            <a:r>
              <a:rPr lang="en-GB" dirty="0"/>
              <a:t>/root/</a:t>
            </a:r>
            <a:r>
              <a:rPr lang="en-GB" dirty="0" err="1"/>
              <a:t>jupyter_notebooks</a:t>
            </a:r>
            <a:r>
              <a:rPr lang="en-GB" dirty="0"/>
              <a:t>/</a:t>
            </a:r>
            <a:r>
              <a:rPr lang="en-GB" dirty="0" err="1"/>
              <a:t>aicas</a:t>
            </a:r>
            <a:r>
              <a:rPr lang="en-GB" dirty="0"/>
              <a:t>/scripts</a:t>
            </a:r>
          </a:p>
          <a:p>
            <a:pPr lvl="2"/>
            <a:r>
              <a:rPr lang="en-US" dirty="0"/>
              <a:t>[bash] source ../</a:t>
            </a:r>
            <a:r>
              <a:rPr lang="en-US" dirty="0" err="1"/>
              <a:t>venv</a:t>
            </a:r>
            <a:r>
              <a:rPr lang="en-US" dirty="0"/>
              <a:t>/bin/activate</a:t>
            </a:r>
          </a:p>
          <a:p>
            <a:pPr lvl="2"/>
            <a:r>
              <a:rPr lang="en-GB" dirty="0"/>
              <a:t>[bash] python throughput_eval.py -</a:t>
            </a:r>
            <a:r>
              <a:rPr lang="en-GB" dirty="0" err="1"/>
              <a:t>i</a:t>
            </a:r>
            <a:r>
              <a:rPr lang="en-GB" dirty="0"/>
              <a:t> test2.jpg -o </a:t>
            </a:r>
            <a:r>
              <a:rPr lang="en-GB" dirty="0" err="1"/>
              <a:t>dummy.json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75788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2416</Words>
  <Application>Microsoft Office PowerPoint</Application>
  <PresentationFormat>全屏显示(16:9)</PresentationFormat>
  <Paragraphs>297</Paragraphs>
  <Slides>34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Arial</vt:lpstr>
      <vt:lpstr>Wingdings</vt:lpstr>
      <vt:lpstr>Simple Light</vt:lpstr>
      <vt:lpstr>An agile and fast FPGA kernel dev for VLM application</vt:lpstr>
      <vt:lpstr>Outline</vt:lpstr>
      <vt:lpstr>Philosophy</vt:lpstr>
      <vt:lpstr>Model analysis</vt:lpstr>
      <vt:lpstr>Operator choices</vt:lpstr>
      <vt:lpstr>Architecture design choices</vt:lpstr>
      <vt:lpstr>Runtime design choice </vt:lpstr>
      <vt:lpstr>Tiling</vt:lpstr>
      <vt:lpstr>Tiling (why?)</vt:lpstr>
      <vt:lpstr>Systolic array</vt:lpstr>
      <vt:lpstr>PE design</vt:lpstr>
      <vt:lpstr>Sample network</vt:lpstr>
      <vt:lpstr>C (result) network</vt:lpstr>
      <vt:lpstr>C (result) network (intermezzo)</vt:lpstr>
      <vt:lpstr>C (result) network</vt:lpstr>
      <vt:lpstr>C (result) network (cont’d)</vt:lpstr>
      <vt:lpstr>C (result) network (cont’d)</vt:lpstr>
      <vt:lpstr>C (result) network</vt:lpstr>
      <vt:lpstr>HLS kernel design</vt:lpstr>
      <vt:lpstr>Main iteration space</vt:lpstr>
      <vt:lpstr>GEMV design</vt:lpstr>
      <vt:lpstr>GEMV design</vt:lpstr>
      <vt:lpstr>Weight data tile reading task</vt:lpstr>
      <vt:lpstr>64 way i8 MAC task</vt:lpstr>
      <vt:lpstr>64 way dequantization</vt:lpstr>
      <vt:lpstr>64 way inplace float accumulation</vt:lpstr>
      <vt:lpstr>GEMV summary</vt:lpstr>
      <vt:lpstr>Llama.cpp modification</vt:lpstr>
      <vt:lpstr>Main modifications</vt:lpstr>
      <vt:lpstr>Main modifications</vt:lpstr>
      <vt:lpstr>Main modifications</vt:lpstr>
      <vt:lpstr>Achieved results</vt:lpstr>
      <vt:lpstr>Achieved results</vt:lpstr>
      <vt:lpstr>How to run.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WEIJIE JIANG</cp:lastModifiedBy>
  <cp:revision>42</cp:revision>
  <dcterms:modified xsi:type="dcterms:W3CDTF">2026-05-30T14:47:26Z</dcterms:modified>
</cp:coreProperties>
</file>